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oNCAGnRypEXPLJdiJ0AQZc++x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62E44E-98E0-4E32-A5E6-242C697F4D2E}">
  <a:tblStyle styleId="{1662E44E-98E0-4E32-A5E6-242C697F4D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8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4731">
              <a:alpha val="80000"/>
            </a:srgbClr>
          </a:solidFill>
          <a:ln cap="flat" cmpd="sng" w="254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22C55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731520"/>
            <a:ext cx="2194560" cy="347472"/>
          </a:xfrm>
          <a:prstGeom prst="roundRect">
            <a:avLst>
              <a:gd fmla="val 13158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73152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818"/>
              </a:buClr>
              <a:buSzPts val="900"/>
              <a:buFont typeface="Calibri"/>
              <a:buNone/>
            </a:pPr>
            <a:r>
              <a:rPr b="1" lang="en-US" sz="1500">
                <a:solidFill>
                  <a:srgbClr val="0D2818"/>
                </a:solidFill>
                <a:latin typeface="Calibri"/>
                <a:ea typeface="Calibri"/>
                <a:cs typeface="Calibri"/>
                <a:sym typeface="Calibri"/>
              </a:rPr>
              <a:t>BATCH 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28016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Smart Hostel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10312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Energy Saver System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1089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Automatic room power cutoff using PIR (Passive Infrared) heat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when no occupant is present — saving energy, reducing hostel bills.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7A5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B7A5A"/>
                </a:solidFill>
                <a:latin typeface="Consolas"/>
                <a:ea typeface="Consolas"/>
                <a:cs typeface="Consolas"/>
                <a:sym typeface="Consolas"/>
              </a:rPr>
              <a:t>ESP32  ·  HC-SR501 PIR  ·  Relay Module  ·  Arduino 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23444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1234440"/>
            <a:ext cx="260604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14173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4200"/>
              <a:buFont typeface="Trebuchet MS"/>
              <a:buNone/>
            </a:pPr>
            <a:r>
              <a:rPr b="1" lang="en-US" sz="42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28</a:t>
            </a:r>
            <a:r>
              <a:rPr b="1" lang="en-US" sz="4200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-3</a:t>
            </a:r>
            <a:r>
              <a:rPr b="1" i="0" lang="en-US" sz="42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246888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4731"/>
                </a:solidFill>
                <a:latin typeface="Calibri"/>
                <a:ea typeface="Calibri"/>
                <a:cs typeface="Calibri"/>
                <a:sym typeface="Calibri"/>
              </a:rPr>
              <a:t>of hostel electricity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4731"/>
                </a:solidFill>
                <a:latin typeface="Calibri"/>
                <a:ea typeface="Calibri"/>
                <a:cs typeface="Calibri"/>
                <a:sym typeface="Calibri"/>
              </a:rPr>
              <a:t>wasted in empty rooms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0" y="123444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200400" y="1234440"/>
            <a:ext cx="2606040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0" y="14173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₹800+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0" y="246888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4731"/>
                </a:solidFill>
                <a:latin typeface="Calibri"/>
                <a:ea typeface="Calibri"/>
                <a:cs typeface="Calibri"/>
                <a:sym typeface="Calibri"/>
              </a:rPr>
              <a:t>extra per student per year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4731"/>
                </a:solidFill>
                <a:latin typeface="Calibri"/>
                <a:ea typeface="Calibri"/>
                <a:cs typeface="Calibri"/>
                <a:sym typeface="Calibri"/>
              </a:rPr>
              <a:t>due to forgotten lights/fans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035040" y="1234440"/>
            <a:ext cx="260604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035040" y="1234440"/>
            <a:ext cx="26060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035040" y="14173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200"/>
              <a:buFont typeface="Trebuchet MS"/>
              <a:buNone/>
            </a:pPr>
            <a:r>
              <a:rPr b="1" lang="en-US" sz="42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~</a:t>
            </a:r>
            <a:r>
              <a:rPr b="1" i="0" lang="en-US" sz="4200" u="none" cap="none" strike="noStrike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035040" y="2468880"/>
            <a:ext cx="2606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4731"/>
                </a:solidFill>
                <a:latin typeface="Calibri"/>
                <a:ea typeface="Calibri"/>
                <a:cs typeface="Calibri"/>
                <a:sym typeface="Calibri"/>
              </a:rPr>
              <a:t>existing hostels with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4731"/>
                </a:solidFill>
                <a:latin typeface="Calibri"/>
                <a:ea typeface="Calibri"/>
                <a:cs typeface="Calibri"/>
                <a:sym typeface="Calibri"/>
              </a:rPr>
              <a:t>auto power-off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Students routinely leave lights and fans running when they step out — lectures, canteen, sports. In a 200-room hostel, this adds up to significant electricity waste every single 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81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OUR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If nobody is in the room,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cut the power. Automatically.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2606040"/>
            <a:ext cx="4023360" cy="10058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11480" y="2606040"/>
            <a:ext cx="731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🌡️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8872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PIR Heat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188720" y="304495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Senses infrared radiation from human body heat — no contact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617720" y="2606040"/>
            <a:ext cx="4023360" cy="10058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754880" y="2606040"/>
            <a:ext cx="731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53212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Relay Auto Switch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532120" y="304495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Physically cuts power to lights &amp; fan via relay when room is empty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74320" y="3840480"/>
            <a:ext cx="4023360" cy="10058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11480" y="3840480"/>
            <a:ext cx="731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88720" y="3931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5-Min Timeout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88720" y="427939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Waits 5 minutes after last motion before switching off — no false cuts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617720" y="3840480"/>
            <a:ext cx="4023360" cy="10058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754880" y="3840480"/>
            <a:ext cx="731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532120" y="3931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Manual Override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532120" y="427939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Students can override with a button for uninterrupted study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81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COMPONENTS &amp; CIRCUIT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74320" y="1143000"/>
            <a:ext cx="4160520" cy="109728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74320" y="114300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ESP32 DevKit C V4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16459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Main microcontroller — reads PIR, controls relay, runs logic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709160" y="1143000"/>
            <a:ext cx="4160520" cy="109728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709160" y="114300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892040" y="1234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HC-SR501 PIR Sensor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92040" y="16459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Detects body heat (infrared) — GPIO 13, range 7m, 120°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74320" y="2423160"/>
            <a:ext cx="4160520" cy="109728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274320" y="242316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2514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Relay Module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292608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Physically switches AC power to room appliances — GPIO 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709160" y="2423160"/>
            <a:ext cx="4160520" cy="109728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709160" y="242316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892040" y="2514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LDR Sensor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892040" y="292608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Ambient light check — only activates at night via GPIO 34 (ADC)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74320" y="3703320"/>
            <a:ext cx="4160520" cy="109728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274320" y="370332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57200" y="37947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Push Button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42062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Manual 30-min override for continuous use — GPIO 35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709160" y="3703320"/>
            <a:ext cx="4160520" cy="109728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709160" y="370332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892040" y="37947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LED Indicator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892040" y="42062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Visual status — ON when relay is active, 220Ω resistor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Simulated on Wokwi — wokwi.com/projects/456377440609481729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103120" y="2286000"/>
            <a:ext cx="32004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0" name="Google Shape;110;p4"/>
          <p:cNvSpPr/>
          <p:nvPr/>
        </p:nvSpPr>
        <p:spPr>
          <a:xfrm>
            <a:off x="274320" y="118872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1" name="Google Shape;111;p4"/>
          <p:cNvSpPr/>
          <p:nvPr/>
        </p:nvSpPr>
        <p:spPr>
          <a:xfrm>
            <a:off x="274320" y="1188720"/>
            <a:ext cx="19202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2" name="Google Shape;112;p4"/>
          <p:cNvSpPr/>
          <p:nvPr/>
        </p:nvSpPr>
        <p:spPr>
          <a:xfrm>
            <a:off x="868680" y="13258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3" name="Google Shape;113;p4"/>
          <p:cNvSpPr/>
          <p:nvPr/>
        </p:nvSpPr>
        <p:spPr>
          <a:xfrm>
            <a:off x="86868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5760" y="22402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4731"/>
                </a:solidFill>
                <a:latin typeface="Trebuchet MS"/>
                <a:ea typeface="Trebuchet MS"/>
                <a:cs typeface="Trebuchet MS"/>
                <a:sym typeface="Trebuchet MS"/>
              </a:rPr>
              <a:t>PIR Scans Room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65760" y="28346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Constantly detects infrared heat signatures from human bodies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251960" y="2286000"/>
            <a:ext cx="32004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7" name="Google Shape;117;p4"/>
          <p:cNvSpPr/>
          <p:nvPr/>
        </p:nvSpPr>
        <p:spPr>
          <a:xfrm>
            <a:off x="2423160" y="118872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8" name="Google Shape;118;p4"/>
          <p:cNvSpPr/>
          <p:nvPr/>
        </p:nvSpPr>
        <p:spPr>
          <a:xfrm>
            <a:off x="2423160" y="1188720"/>
            <a:ext cx="19202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9" name="Google Shape;119;p4"/>
          <p:cNvSpPr/>
          <p:nvPr/>
        </p:nvSpPr>
        <p:spPr>
          <a:xfrm>
            <a:off x="3017520" y="1325880"/>
            <a:ext cx="731520" cy="7315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0" name="Google Shape;120;p4"/>
          <p:cNvSpPr/>
          <p:nvPr/>
        </p:nvSpPr>
        <p:spPr>
          <a:xfrm>
            <a:off x="301752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514600" y="22402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4731"/>
                </a:solidFill>
                <a:latin typeface="Trebuchet MS"/>
                <a:ea typeface="Trebuchet MS"/>
                <a:cs typeface="Trebuchet MS"/>
                <a:sym typeface="Trebuchet MS"/>
              </a:rPr>
              <a:t>Motion Detected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514600" y="28346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ESP32 reads HIGH signal → timer resets → relay stays 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0" y="2286000"/>
            <a:ext cx="32004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4" name="Google Shape;124;p4"/>
          <p:cNvSpPr/>
          <p:nvPr/>
        </p:nvSpPr>
        <p:spPr>
          <a:xfrm>
            <a:off x="4572000" y="118872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5" name="Google Shape;125;p4"/>
          <p:cNvSpPr/>
          <p:nvPr/>
        </p:nvSpPr>
        <p:spPr>
          <a:xfrm>
            <a:off x="4572000" y="1188720"/>
            <a:ext cx="19202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6" name="Google Shape;126;p4"/>
          <p:cNvSpPr/>
          <p:nvPr/>
        </p:nvSpPr>
        <p:spPr>
          <a:xfrm>
            <a:off x="5166360" y="1325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7" name="Google Shape;127;p4"/>
          <p:cNvSpPr/>
          <p:nvPr/>
        </p:nvSpPr>
        <p:spPr>
          <a:xfrm>
            <a:off x="516636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663440" y="22402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4731"/>
                </a:solidFill>
                <a:latin typeface="Trebuchet MS"/>
                <a:ea typeface="Trebuchet MS"/>
                <a:cs typeface="Trebuchet MS"/>
                <a:sym typeface="Trebuchet MS"/>
              </a:rPr>
              <a:t>Room Empty?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63440" y="28346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heat detected for 5 continuous minutes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720840" y="1188720"/>
            <a:ext cx="19202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1" name="Google Shape;131;p4"/>
          <p:cNvSpPr/>
          <p:nvPr/>
        </p:nvSpPr>
        <p:spPr>
          <a:xfrm>
            <a:off x="6720840" y="1188720"/>
            <a:ext cx="19202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2" name="Google Shape;132;p4"/>
          <p:cNvSpPr/>
          <p:nvPr/>
        </p:nvSpPr>
        <p:spPr>
          <a:xfrm>
            <a:off x="7315200" y="132588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3" name="Google Shape;133;p4"/>
          <p:cNvSpPr/>
          <p:nvPr/>
        </p:nvSpPr>
        <p:spPr>
          <a:xfrm>
            <a:off x="7315200" y="1325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812280" y="22402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731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4731"/>
                </a:solidFill>
                <a:latin typeface="Trebuchet MS"/>
                <a:ea typeface="Trebuchet MS"/>
                <a:cs typeface="Trebuchet MS"/>
                <a:sym typeface="Trebuchet MS"/>
              </a:rPr>
              <a:t>Power Cut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812280" y="283464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Relay switches OFF → lights and fan turn off automatically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7" name="Google Shape;137;p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onsolas"/>
              <a:buNone/>
            </a:pPr>
            <a:r>
              <a:rPr b="0" i="0" lang="en-US" u="none" cap="none" strike="noStrike">
                <a:solidFill>
                  <a:srgbClr val="22C55E"/>
                </a:solidFill>
                <a:latin typeface="Consolas"/>
                <a:ea typeface="Consolas"/>
                <a:cs typeface="Consolas"/>
                <a:sym typeface="Consolas"/>
              </a:rPr>
              <a:t>if (motion == HIGH &amp;&amp; isDark) { lastMotionTime = millis(); setRelay(true); }  // 5-min timeout auto-OFF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81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IMPROVEMENTS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1B3A28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" name="Google Shape;146;p7"/>
          <p:cNvSpPr/>
          <p:nvPr/>
        </p:nvSpPr>
        <p:spPr>
          <a:xfrm>
            <a:off x="274320" y="1143000"/>
            <a:ext cx="265176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7"/>
          <p:cNvSpPr/>
          <p:nvPr/>
        </p:nvSpPr>
        <p:spPr>
          <a:xfrm>
            <a:off x="274320" y="1143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818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D2818"/>
                </a:solidFill>
                <a:latin typeface="Calibri"/>
                <a:ea typeface="Calibri"/>
                <a:cs typeface="Calibri"/>
                <a:sym typeface="Calibri"/>
              </a:rPr>
              <a:t>Phase 1  ·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11480" y="18288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PIR heat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11480" y="2514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Relay auto switch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11480" y="32004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5-min timeout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11480" y="38862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LED indicator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1B3A28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" name="Google Shape;153;p7"/>
          <p:cNvSpPr/>
          <p:nvPr/>
        </p:nvSpPr>
        <p:spPr>
          <a:xfrm>
            <a:off x="3154680" y="1143000"/>
            <a:ext cx="26517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7"/>
          <p:cNvSpPr/>
          <p:nvPr/>
        </p:nvSpPr>
        <p:spPr>
          <a:xfrm>
            <a:off x="3154680" y="1143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818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D2818"/>
                </a:solidFill>
                <a:latin typeface="Calibri"/>
                <a:ea typeface="Calibri"/>
                <a:cs typeface="Calibri"/>
                <a:sym typeface="Calibri"/>
              </a:rPr>
              <a:t>Phase 2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291840" y="18288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LDR ambient light check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291840" y="2514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Manual override button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91840" y="32004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2-channel relay (fan + light)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291840" y="38862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OLED status display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1B3A28"/>
          </a:solidFill>
          <a:ln cap="flat" cmpd="sng" w="190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7"/>
          <p:cNvSpPr/>
          <p:nvPr/>
        </p:nvSpPr>
        <p:spPr>
          <a:xfrm>
            <a:off x="6035040" y="1143000"/>
            <a:ext cx="265176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1" name="Google Shape;161;p7"/>
          <p:cNvSpPr/>
          <p:nvPr/>
        </p:nvSpPr>
        <p:spPr>
          <a:xfrm>
            <a:off x="6035040" y="1143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818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0D2818"/>
                </a:solidFill>
                <a:latin typeface="Calibri"/>
                <a:ea typeface="Calibri"/>
                <a:cs typeface="Calibri"/>
                <a:sym typeface="Calibri"/>
              </a:rPr>
              <a:t>Phase 3 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172200" y="18288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WiFi dashboard (ESP32)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172200" y="25146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Energy usage analytics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72200" y="32004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Warden mobile alerts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172200" y="38862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Central hostel 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47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2" name="Google Shape;172;p6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COST ESTIMATE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6"/>
          <p:cNvGraphicFramePr/>
          <p:nvPr/>
        </p:nvGraphicFramePr>
        <p:xfrm>
          <a:off x="3657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{1662E44E-98E0-4E32-A5E6-242C697F4D2E}</a:tableStyleId>
              </a:tblPr>
              <a:tblGrid>
                <a:gridCol w="2377450"/>
                <a:gridCol w="548650"/>
                <a:gridCol w="1005850"/>
                <a:gridCol w="1097275"/>
              </a:tblGrid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Qty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Price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4731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DevKit C V4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₹350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₹350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HC-SR501 PIR Sensor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₹65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₹65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5V Relay Module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LDR + 10kΩ Resistor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Push Button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220Ω Resistors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₹4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LEDs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Breadboard (830pt)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₹70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₹70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Jumper Wires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₹50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USB Cable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₹80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₹80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PROTOTYPE TOTAL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₹704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6"/>
          <p:cNvSpPr/>
          <p:nvPr/>
        </p:nvSpPr>
        <p:spPr>
          <a:xfrm>
            <a:off x="5577840" y="1097280"/>
            <a:ext cx="3291840" cy="1645920"/>
          </a:xfrm>
          <a:prstGeom prst="rect">
            <a:avLst/>
          </a:prstGeom>
          <a:solidFill>
            <a:srgbClr val="1A4731"/>
          </a:solidFill>
          <a:ln>
            <a:noFill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5" name="Google Shape;175;p6"/>
          <p:cNvSpPr/>
          <p:nvPr/>
        </p:nvSpPr>
        <p:spPr>
          <a:xfrm>
            <a:off x="5577840" y="11430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Production Unit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(Per Room)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669313" y="1576521"/>
            <a:ext cx="3108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PCB Fabrication  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₹250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3C4A8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Project Enclosure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₹80</a:t>
            </a:r>
            <a:b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A3C4A8"/>
                </a:solidFill>
                <a:latin typeface="Calibri"/>
                <a:ea typeface="Calibri"/>
                <a:cs typeface="Calibri"/>
                <a:sym typeface="Calibri"/>
              </a:rPr>
              <a:t>5V Wall Adapter   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₹120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577840" y="2926080"/>
            <a:ext cx="3291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8" name="Google Shape;178;p6"/>
          <p:cNvSpPr/>
          <p:nvPr/>
        </p:nvSpPr>
        <p:spPr>
          <a:xfrm>
            <a:off x="5577840" y="2926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818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0D2818"/>
                </a:solidFill>
                <a:latin typeface="Calibri"/>
                <a:ea typeface="Calibri"/>
                <a:cs typeface="Calibri"/>
                <a:sym typeface="Calibri"/>
              </a:rPr>
              <a:t>Total per Room: ₹1,150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577840" y="3520440"/>
            <a:ext cx="3291840" cy="1280160"/>
          </a:xfrm>
          <a:prstGeom prst="rect">
            <a:avLst/>
          </a:prstGeom>
          <a:solidFill>
            <a:srgbClr val="FFF9E6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0" name="Google Shape;180;p6"/>
          <p:cNvSpPr/>
          <p:nvPr/>
        </p:nvSpPr>
        <p:spPr>
          <a:xfrm>
            <a:off x="5669280" y="3566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Trebuchet MS"/>
                <a:ea typeface="Trebuchet MS"/>
                <a:cs typeface="Trebuchet MS"/>
                <a:sym typeface="Trebuchet MS"/>
              </a:rPr>
              <a:t>💰 ROI for 100-room hostel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669280" y="39319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Deploy cost: ~₹1.15 lakh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Est. monthly savings: ₹8,000+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Break-even in &lt; 15 months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81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2171250" y="-1222425"/>
            <a:ext cx="7315200" cy="7315200"/>
          </a:xfrm>
          <a:prstGeom prst="ellipse">
            <a:avLst/>
          </a:prstGeom>
          <a:solidFill>
            <a:srgbClr val="0F332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 Practical, Low-Cost Solution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Hostel Energy Management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645920" y="2651760"/>
            <a:ext cx="5943600" cy="5486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828800" y="2651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468880" y="26517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Scientifically grounded — PIR genuinely detects human body heat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645920" y="3310128"/>
            <a:ext cx="5943600" cy="5486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828800" y="33101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468880" y="3310128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Cost-effective — ₹1,150/room with fast ROI at hostel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645920" y="3968496"/>
            <a:ext cx="5943600" cy="548640"/>
          </a:xfrm>
          <a:prstGeom prst="rect">
            <a:avLst/>
          </a:prstGeom>
          <a:solidFill>
            <a:srgbClr val="1B3A28"/>
          </a:solidFill>
          <a:ln cap="flat" cmpd="sng" w="12700">
            <a:solidFill>
              <a:srgbClr val="2D5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828800" y="396849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468880" y="3968496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Expandable — WiFi, analytics, and multi-room control ready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7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B7A5A"/>
                </a:solidFill>
                <a:latin typeface="Calibri"/>
                <a:ea typeface="Calibri"/>
                <a:cs typeface="Calibri"/>
                <a:sym typeface="Calibri"/>
              </a:rPr>
              <a:t>Simulated on Wokwi · Ready for Prototype Build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2026-03-10T09:28:09Z</dcterms:created>
  <dc:creator>VISHNURAM S</dc:creator>
</cp:coreProperties>
</file>